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4" r:id="rId14"/>
    <p:sldId id="268" r:id="rId15"/>
    <p:sldId id="269" r:id="rId16"/>
    <p:sldId id="270" r:id="rId17"/>
    <p:sldId id="271" r:id="rId18"/>
    <p:sldId id="275"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42615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264623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4027976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411E56-11AF-411E-91AB-EBB51FD73E23}" type="datetimeFigureOut">
              <a:rPr lang="en-IN" smtClean="0"/>
              <a:t>27-06-2022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734192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411E56-11AF-411E-91AB-EBB51FD73E23}" type="datetimeFigureOut">
              <a:rPr lang="en-IN" smtClean="0"/>
              <a:t>27-06-2022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892123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584898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834759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15478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11E56-11AF-411E-91AB-EBB51FD73E23}" type="datetimeFigureOut">
              <a:rPr lang="en-IN" smtClean="0"/>
              <a:t>27-06-2022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222181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11E56-11AF-411E-91AB-EBB51FD73E23}" type="datetimeFigureOut">
              <a:rPr lang="en-IN" smtClean="0"/>
              <a:t>27-06-2022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141693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18954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22272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1161564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491399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701936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0793235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11E56-11AF-411E-91AB-EBB51FD73E23}" type="datetimeFigureOut">
              <a:rPr lang="en-IN" smtClean="0"/>
              <a:t>27-06-2022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369979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411E56-11AF-411E-91AB-EBB51FD73E23}" type="datetimeFigureOut">
              <a:rPr lang="en-IN" smtClean="0"/>
              <a:t>27-06-2022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08E7A68-7375-4BAE-B913-A394E9C127BB}" type="slidenum">
              <a:rPr lang="en-IN" smtClean="0"/>
              <a:t>‹#›</a:t>
            </a:fld>
            <a:endParaRPr lang="en-IN"/>
          </a:p>
        </p:txBody>
      </p:sp>
    </p:spTree>
    <p:extLst>
      <p:ext uri="{BB962C8B-B14F-4D97-AF65-F5344CB8AC3E}">
        <p14:creationId xmlns:p14="http://schemas.microsoft.com/office/powerpoint/2010/main" val="1598961616"/>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E9F1-80FB-5393-2AA0-BF9A46D9068B}"/>
              </a:ext>
            </a:extLst>
          </p:cNvPr>
          <p:cNvSpPr>
            <a:spLocks noGrp="1"/>
          </p:cNvSpPr>
          <p:nvPr>
            <p:ph type="ctrTitle"/>
          </p:nvPr>
        </p:nvSpPr>
        <p:spPr>
          <a:xfrm>
            <a:off x="-1608287" y="-74139"/>
            <a:ext cx="16138228" cy="2599944"/>
          </a:xfrm>
        </p:spPr>
        <p:txBody>
          <a:bodyPr/>
          <a:lstStyle/>
          <a:p>
            <a:endParaRPr lang="en-IN" dirty="0"/>
          </a:p>
        </p:txBody>
      </p:sp>
      <p:sp>
        <p:nvSpPr>
          <p:cNvPr id="3" name="Subtitle 2">
            <a:extLst>
              <a:ext uri="{FF2B5EF4-FFF2-40B4-BE49-F238E27FC236}">
                <a16:creationId xmlns:a16="http://schemas.microsoft.com/office/drawing/2014/main" id="{C2153F8B-CB1E-77EA-A7A8-FFA20446CF10}"/>
              </a:ext>
            </a:extLst>
          </p:cNvPr>
          <p:cNvSpPr>
            <a:spLocks noGrp="1"/>
          </p:cNvSpPr>
          <p:nvPr>
            <p:ph type="subTitle" idx="1"/>
          </p:nvPr>
        </p:nvSpPr>
        <p:spPr>
          <a:xfrm>
            <a:off x="1524000" y="5418305"/>
            <a:ext cx="9144000" cy="1643975"/>
          </a:xfrm>
        </p:spPr>
        <p:txBody>
          <a:bodyPr>
            <a:noAutofit/>
          </a:bodyPr>
          <a:lstStyle/>
          <a:p>
            <a:pPr algn="ctr"/>
            <a:r>
              <a:rPr lang="en-IN" sz="2800" b="1" i="1" u="sng" dirty="0">
                <a:solidFill>
                  <a:srgbClr val="0070C0"/>
                </a:solidFill>
                <a:highlight>
                  <a:srgbClr val="FFFF00"/>
                </a:highlight>
                <a:latin typeface="Algerian" panose="04020705040A02060702" pitchFamily="82" charset="0"/>
              </a:rPr>
              <a:t>House Price Prediction Project</a:t>
            </a:r>
          </a:p>
          <a:p>
            <a:pPr algn="ctr"/>
            <a:r>
              <a:rPr lang="en-IN" sz="2800" b="1" i="1" dirty="0">
                <a:solidFill>
                  <a:srgbClr val="0070C0"/>
                </a:solidFill>
                <a:highlight>
                  <a:srgbClr val="FFFF00"/>
                </a:highlight>
              </a:rPr>
              <a:t>By</a:t>
            </a:r>
          </a:p>
          <a:p>
            <a:pPr algn="ctr"/>
            <a:r>
              <a:rPr lang="en-IN" sz="2800" b="1" i="1" dirty="0">
                <a:solidFill>
                  <a:srgbClr val="0070C0"/>
                </a:solidFill>
                <a:highlight>
                  <a:srgbClr val="FFFF00"/>
                </a:highlight>
                <a:latin typeface="Arial Black" panose="020B0A04020102020204" pitchFamily="34" charset="0"/>
              </a:rPr>
              <a:t>KOUSHIK BISWAS</a:t>
            </a:r>
          </a:p>
        </p:txBody>
      </p:sp>
      <p:pic>
        <p:nvPicPr>
          <p:cNvPr id="1026" name="Picture 2" descr="See the source image">
            <a:extLst>
              <a:ext uri="{FF2B5EF4-FFF2-40B4-BE49-F238E27FC236}">
                <a16:creationId xmlns:a16="http://schemas.microsoft.com/office/drawing/2014/main" id="{A3F7D2D0-8EF9-3BBB-F002-F050F3526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4139"/>
            <a:ext cx="12192000" cy="5560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767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E4868-8295-B74C-CC29-D63815D1F4E3}"/>
              </a:ext>
            </a:extLst>
          </p:cNvPr>
          <p:cNvSpPr>
            <a:spLocks noGrp="1"/>
          </p:cNvSpPr>
          <p:nvPr>
            <p:ph type="title"/>
          </p:nvPr>
        </p:nvSpPr>
        <p:spPr>
          <a:xfrm>
            <a:off x="838200" y="0"/>
            <a:ext cx="10515600" cy="867747"/>
          </a:xfrm>
        </p:spPr>
        <p:txBody>
          <a:bodyPr>
            <a:normAutofit/>
          </a:bodyPr>
          <a:lstStyle/>
          <a:p>
            <a:pPr algn="ctr"/>
            <a:r>
              <a:rPr lang="en-IN" sz="4800" b="1" i="1" u="sng" dirty="0">
                <a:ln w="6731" cap="flat" cmpd="sng" algn="ctr">
                  <a:solidFill>
                    <a:srgbClr val="FFFFFF"/>
                  </a:solidFill>
                  <a:prstDash val="solid"/>
                  <a:round/>
                </a:ln>
                <a:solidFill>
                  <a:srgbClr val="262626"/>
                </a:solidFill>
                <a:effectLst>
                  <a:outerShdw dist="38100" dir="2700000" algn="bl">
                    <a:schemeClr val="accent5"/>
                  </a:outerShdw>
                </a:effectLst>
                <a:highlight>
                  <a:srgbClr val="FFFF00"/>
                </a:highlight>
                <a:latin typeface="Segoe UI" panose="020B0502040204020203" pitchFamily="34" charset="0"/>
                <a:ea typeface="Calibri" panose="020F0502020204030204" pitchFamily="34" charset="0"/>
              </a:rPr>
              <a:t>TABLE OF CONTENTS</a:t>
            </a:r>
            <a:endParaRPr lang="en-IN" sz="4800" dirty="0">
              <a:highlight>
                <a:srgbClr val="FFFF00"/>
              </a:highlight>
            </a:endParaRPr>
          </a:p>
        </p:txBody>
      </p:sp>
      <p:sp>
        <p:nvSpPr>
          <p:cNvPr id="3" name="Content Placeholder 2">
            <a:extLst>
              <a:ext uri="{FF2B5EF4-FFF2-40B4-BE49-F238E27FC236}">
                <a16:creationId xmlns:a16="http://schemas.microsoft.com/office/drawing/2014/main" id="{DA0E21D6-6A5A-B1B1-4B8D-C274CABCA35A}"/>
              </a:ext>
            </a:extLst>
          </p:cNvPr>
          <p:cNvSpPr>
            <a:spLocks noGrp="1"/>
          </p:cNvSpPr>
          <p:nvPr>
            <p:ph idx="1"/>
          </p:nvPr>
        </p:nvSpPr>
        <p:spPr>
          <a:xfrm>
            <a:off x="838200" y="799257"/>
            <a:ext cx="10515600" cy="6058743"/>
          </a:xfrm>
        </p:spPr>
        <p:txBody>
          <a:bodyPr>
            <a:normAutofit fontScale="92500" lnSpcReduction="10000"/>
          </a:bodyPr>
          <a:lstStyle/>
          <a:p>
            <a:pPr>
              <a:buFont typeface="Wingdings" panose="05000000000000000000" pitchFamily="2" charset="2"/>
              <a:buChar char="v"/>
            </a:pPr>
            <a:r>
              <a:rPr lang="en-IN" sz="2000" dirty="0" err="1">
                <a:latin typeface="Algerian" panose="04020705040A02060702" pitchFamily="82" charset="0"/>
              </a:rPr>
              <a:t>Abstruct</a:t>
            </a:r>
            <a:endParaRPr lang="en-IN" sz="2000" dirty="0">
              <a:latin typeface="Algerian" panose="04020705040A02060702" pitchFamily="82" charset="0"/>
            </a:endParaRPr>
          </a:p>
          <a:p>
            <a:pPr>
              <a:buFont typeface="Wingdings" panose="05000000000000000000" pitchFamily="2" charset="2"/>
              <a:buChar char="v"/>
            </a:pPr>
            <a:r>
              <a:rPr lang="en-IN" sz="2000" dirty="0">
                <a:latin typeface="Algerian" panose="04020705040A02060702" pitchFamily="82" charset="0"/>
              </a:rPr>
              <a:t>Introduction</a:t>
            </a:r>
          </a:p>
          <a:p>
            <a:pPr>
              <a:buFont typeface="Wingdings" panose="05000000000000000000" pitchFamily="2" charset="2"/>
              <a:buChar char="v"/>
            </a:pPr>
            <a:r>
              <a:rPr lang="en-IN" sz="2000" dirty="0">
                <a:latin typeface="Algerian" panose="04020705040A02060702" pitchFamily="82" charset="0"/>
              </a:rPr>
              <a:t>Problem Statement</a:t>
            </a:r>
          </a:p>
          <a:p>
            <a:pPr>
              <a:buFont typeface="Wingdings" panose="05000000000000000000" pitchFamily="2" charset="2"/>
              <a:buChar char="v"/>
            </a:pPr>
            <a:r>
              <a:rPr lang="en-IN" sz="2000" dirty="0">
                <a:effectLst/>
                <a:latin typeface="Algerian" panose="04020705040A02060702" pitchFamily="82" charset="0"/>
                <a:ea typeface="Calibri" panose="020F0502020204030204" pitchFamily="34" charset="0"/>
                <a:cs typeface="Times New Roman" panose="02020603050405020304" pitchFamily="18" charset="0"/>
              </a:rPr>
              <a:t>Conceptual Background of the Domain Problem</a:t>
            </a:r>
          </a:p>
          <a:p>
            <a:pPr>
              <a:buFont typeface="Wingdings" panose="05000000000000000000" pitchFamily="2" charset="2"/>
              <a:buChar char="v"/>
            </a:pPr>
            <a:r>
              <a:rPr lang="en-US" sz="2000" dirty="0">
                <a:latin typeface="Algerian" panose="04020705040A02060702" pitchFamily="82" charset="0"/>
              </a:rPr>
              <a:t>Data Sources and their formats</a:t>
            </a:r>
          </a:p>
          <a:p>
            <a:pPr>
              <a:buFont typeface="Wingdings" panose="05000000000000000000" pitchFamily="2" charset="2"/>
              <a:buChar char="v"/>
            </a:pPr>
            <a:r>
              <a:rPr lang="en-IN" sz="2000" dirty="0">
                <a:latin typeface="Algerian" panose="04020705040A02060702" pitchFamily="82" charset="0"/>
              </a:rPr>
              <a:t>About The </a:t>
            </a:r>
            <a:r>
              <a:rPr lang="en-IN" sz="2000" dirty="0" err="1">
                <a:latin typeface="Algerian" panose="04020705040A02060702" pitchFamily="82" charset="0"/>
              </a:rPr>
              <a:t>DataSet</a:t>
            </a:r>
            <a:endParaRPr lang="en-IN" sz="2000" dirty="0">
              <a:latin typeface="Algerian" panose="04020705040A02060702" pitchFamily="82" charset="0"/>
            </a:endParaRPr>
          </a:p>
          <a:p>
            <a:pPr>
              <a:buFont typeface="Wingdings" panose="05000000000000000000" pitchFamily="2" charset="2"/>
              <a:buChar char="v"/>
            </a:pPr>
            <a:r>
              <a:rPr lang="en-IN" sz="2000" dirty="0">
                <a:latin typeface="Algerian" panose="04020705040A02060702" pitchFamily="82" charset="0"/>
              </a:rPr>
              <a:t>Data </a:t>
            </a:r>
            <a:r>
              <a:rPr lang="en-IN" sz="2000" dirty="0" err="1">
                <a:latin typeface="Algerian" panose="04020705040A02060702" pitchFamily="82" charset="0"/>
              </a:rPr>
              <a:t>Preprocessing</a:t>
            </a:r>
            <a:endParaRPr lang="en-IN" sz="2000" dirty="0">
              <a:latin typeface="Algerian" panose="04020705040A02060702" pitchFamily="82" charset="0"/>
            </a:endParaRPr>
          </a:p>
          <a:p>
            <a:pPr>
              <a:buFont typeface="Wingdings" panose="05000000000000000000" pitchFamily="2" charset="2"/>
              <a:buChar char="v"/>
            </a:pPr>
            <a:r>
              <a:rPr lang="en-US" sz="2000" dirty="0">
                <a:latin typeface="Algerian" panose="04020705040A02060702" pitchFamily="82" charset="0"/>
              </a:rPr>
              <a:t>Hardware and Software Requirements and Tools Used</a:t>
            </a:r>
          </a:p>
          <a:p>
            <a:pPr>
              <a:buFont typeface="Wingdings" panose="05000000000000000000" pitchFamily="2" charset="2"/>
              <a:buChar char="v"/>
            </a:pPr>
            <a:r>
              <a:rPr lang="en-IN" sz="2000" dirty="0">
                <a:latin typeface="Algerian" panose="04020705040A02060702" pitchFamily="82" charset="0"/>
              </a:rPr>
              <a:t>selected models</a:t>
            </a:r>
          </a:p>
          <a:p>
            <a:pPr>
              <a:buFont typeface="Wingdings" panose="05000000000000000000" pitchFamily="2" charset="2"/>
              <a:buChar char="v"/>
            </a:pPr>
            <a:r>
              <a:rPr lang="en-IN" sz="2000" dirty="0">
                <a:latin typeface="Algerian" panose="04020705040A02060702" pitchFamily="82" charset="0"/>
              </a:rPr>
              <a:t>Accuracy score of the model</a:t>
            </a:r>
          </a:p>
          <a:p>
            <a:pPr>
              <a:buFont typeface="Wingdings" panose="05000000000000000000" pitchFamily="2" charset="2"/>
              <a:buChar char="v"/>
            </a:pPr>
            <a:r>
              <a:rPr lang="en-IN" sz="2000" dirty="0">
                <a:latin typeface="Algerian" panose="04020705040A02060702" pitchFamily="82" charset="0"/>
              </a:rPr>
              <a:t>Parameter tuning</a:t>
            </a:r>
          </a:p>
          <a:p>
            <a:pPr>
              <a:buFont typeface="Wingdings" panose="05000000000000000000" pitchFamily="2" charset="2"/>
              <a:buChar char="v"/>
            </a:pPr>
            <a:r>
              <a:rPr lang="en-IN" sz="2000" dirty="0">
                <a:latin typeface="Algerian" panose="04020705040A02060702" pitchFamily="82" charset="0"/>
              </a:rPr>
              <a:t>Final model</a:t>
            </a:r>
          </a:p>
          <a:p>
            <a:pPr>
              <a:buFont typeface="Wingdings" panose="05000000000000000000" pitchFamily="2" charset="2"/>
              <a:buChar char="v"/>
            </a:pPr>
            <a:r>
              <a:rPr lang="en-IN" sz="2000" dirty="0">
                <a:latin typeface="Algerian" panose="04020705040A02060702" pitchFamily="82" charset="0"/>
              </a:rPr>
              <a:t>Visualizations</a:t>
            </a:r>
          </a:p>
          <a:p>
            <a:pPr>
              <a:buFont typeface="Wingdings" panose="05000000000000000000" pitchFamily="2" charset="2"/>
              <a:buChar char="v"/>
            </a:pPr>
            <a:r>
              <a:rPr lang="en-IN" sz="2000" dirty="0">
                <a:latin typeface="Algerian" panose="04020705040A02060702" pitchFamily="82" charset="0"/>
              </a:rPr>
              <a:t>Interpretation of the Results</a:t>
            </a:r>
          </a:p>
          <a:p>
            <a:pPr>
              <a:buFont typeface="Wingdings" panose="05000000000000000000" pitchFamily="2" charset="2"/>
              <a:buChar char="v"/>
            </a:pPr>
            <a:r>
              <a:rPr lang="en-IN" sz="2000" dirty="0" err="1">
                <a:latin typeface="Algerian" panose="04020705040A02060702" pitchFamily="82" charset="0"/>
              </a:rPr>
              <a:t>Conclussion</a:t>
            </a:r>
            <a:endParaRPr lang="en-IN" sz="2000" dirty="0">
              <a:latin typeface="Algerian" panose="04020705040A02060702" pitchFamily="82" charset="0"/>
            </a:endParaRPr>
          </a:p>
          <a:p>
            <a:pPr>
              <a:buFont typeface="Wingdings" panose="05000000000000000000" pitchFamily="2" charset="2"/>
              <a:buChar char="v"/>
            </a:pPr>
            <a:endParaRPr lang="en-IN" sz="1400" dirty="0"/>
          </a:p>
        </p:txBody>
      </p:sp>
    </p:spTree>
    <p:extLst>
      <p:ext uri="{BB962C8B-B14F-4D97-AF65-F5344CB8AC3E}">
        <p14:creationId xmlns:p14="http://schemas.microsoft.com/office/powerpoint/2010/main" val="993161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6884-E14D-84A3-441D-778F25DEE18C}"/>
              </a:ext>
            </a:extLst>
          </p:cNvPr>
          <p:cNvSpPr>
            <a:spLocks noGrp="1"/>
          </p:cNvSpPr>
          <p:nvPr>
            <p:ph type="title"/>
          </p:nvPr>
        </p:nvSpPr>
        <p:spPr>
          <a:xfrm>
            <a:off x="646111" y="452718"/>
            <a:ext cx="9404723" cy="834906"/>
          </a:xfrm>
        </p:spPr>
        <p:txBody>
          <a:bodyPr/>
          <a:lstStyle/>
          <a:p>
            <a:pPr algn="ctr"/>
            <a:r>
              <a:rPr lang="en-IN" sz="4400" dirty="0" err="1">
                <a:solidFill>
                  <a:srgbClr val="FFFF00"/>
                </a:solidFill>
                <a:highlight>
                  <a:srgbClr val="800000"/>
                </a:highlight>
                <a:latin typeface="Algerian" panose="04020705040A02060702" pitchFamily="82" charset="0"/>
              </a:rPr>
              <a:t>Abstruct</a:t>
            </a:r>
            <a:endParaRPr lang="en-IN" dirty="0">
              <a:solidFill>
                <a:srgbClr val="FFFF00"/>
              </a:solidFill>
              <a:highlight>
                <a:srgbClr val="800000"/>
              </a:highlight>
            </a:endParaRPr>
          </a:p>
        </p:txBody>
      </p:sp>
      <p:sp>
        <p:nvSpPr>
          <p:cNvPr id="3" name="Content Placeholder 2">
            <a:extLst>
              <a:ext uri="{FF2B5EF4-FFF2-40B4-BE49-F238E27FC236}">
                <a16:creationId xmlns:a16="http://schemas.microsoft.com/office/drawing/2014/main" id="{EB33E376-FC15-AEDC-587A-67F8BE5FA9EA}"/>
              </a:ext>
            </a:extLst>
          </p:cNvPr>
          <p:cNvSpPr>
            <a:spLocks noGrp="1"/>
          </p:cNvSpPr>
          <p:nvPr>
            <p:ph idx="1"/>
          </p:nvPr>
        </p:nvSpPr>
        <p:spPr>
          <a:xfrm>
            <a:off x="1467205" y="1633041"/>
            <a:ext cx="8946541" cy="4195481"/>
          </a:xfrm>
        </p:spPr>
        <p:txBody>
          <a:bodyPr/>
          <a:lstStyle/>
          <a:p>
            <a:pPr algn="just"/>
            <a:r>
              <a:rPr lang="en-IN" sz="1800" spc="-5" dirty="0">
                <a:solidFill>
                  <a:srgbClr val="7030A0"/>
                </a:solidFill>
                <a:effectLst/>
                <a:latin typeface="Arial"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800" spc="-5" dirty="0">
                <a:solidFill>
                  <a:srgbClr val="FFFF00"/>
                </a:solidFill>
                <a:latin typeface="Arial" panose="020B0604020202020204" pitchFamily="34" charset="0"/>
                <a:ea typeface="Calibri" panose="020F0502020204030204" pitchFamily="34" charset="0"/>
                <a:cs typeface="Times New Roman" panose="02020603050405020304" pitchFamily="18" charset="0"/>
              </a:rPr>
              <a:t>Housing prices are an important reflection of the economy, and housing price ranges are of great interest for both buyers and sellers. In this project, house prices will be predicted given explanatory variables that cover many aspects of residential houses. The goal of this project is to create a regression model that is able to accurately estimate the price of the house given the features</a:t>
            </a:r>
            <a:endParaRPr lang="en-IN" sz="2800" dirty="0"/>
          </a:p>
        </p:txBody>
      </p:sp>
    </p:spTree>
    <p:extLst>
      <p:ext uri="{BB962C8B-B14F-4D97-AF65-F5344CB8AC3E}">
        <p14:creationId xmlns:p14="http://schemas.microsoft.com/office/powerpoint/2010/main" val="1886720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BADAA-2A5C-15FD-CE8B-6911769954DC}"/>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Introduction</a:t>
            </a:r>
            <a:endParaRPr lang="en-IN" dirty="0">
              <a:solidFill>
                <a:srgbClr val="FFFF00"/>
              </a:solidFill>
              <a:highlight>
                <a:srgbClr val="800080"/>
              </a:highlight>
            </a:endParaRPr>
          </a:p>
        </p:txBody>
      </p:sp>
      <p:sp>
        <p:nvSpPr>
          <p:cNvPr id="3" name="Content Placeholder 2">
            <a:extLst>
              <a:ext uri="{FF2B5EF4-FFF2-40B4-BE49-F238E27FC236}">
                <a16:creationId xmlns:a16="http://schemas.microsoft.com/office/drawing/2014/main" id="{F77C46EB-0CF9-105D-F354-B1AE96416813}"/>
              </a:ext>
            </a:extLst>
          </p:cNvPr>
          <p:cNvSpPr>
            <a:spLocks noGrp="1"/>
          </p:cNvSpPr>
          <p:nvPr>
            <p:ph idx="1"/>
          </p:nvPr>
        </p:nvSpPr>
        <p:spPr/>
        <p:txBody>
          <a:bodyPr>
            <a:normAutofit/>
          </a:bodyPr>
          <a:lstStyle/>
          <a:p>
            <a:pPr algn="just"/>
            <a:r>
              <a:rPr lang="en-US" sz="2400" dirty="0">
                <a:solidFill>
                  <a:srgbClr val="FFFF00"/>
                </a:solidFill>
              </a:rPr>
              <a:t>Thousands of houses are sold everyday. There are some questions every buyer asks himself like: What is the actual price that this house deserves? Am I paying a fair price? In this paper, a machine learning model is proposed to predict a house price based on data related to the house (its size, the year it was built in, etc.). This will facilitate the reproducibility of our work. In this study, Python programming language with a number of Python packages will be used.</a:t>
            </a:r>
            <a:endParaRPr lang="en-IN" sz="2400" dirty="0">
              <a:solidFill>
                <a:srgbClr val="FFFF00"/>
              </a:solidFill>
            </a:endParaRPr>
          </a:p>
        </p:txBody>
      </p:sp>
    </p:spTree>
    <p:extLst>
      <p:ext uri="{BB962C8B-B14F-4D97-AF65-F5344CB8AC3E}">
        <p14:creationId xmlns:p14="http://schemas.microsoft.com/office/powerpoint/2010/main" val="326522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AABD-9762-B06D-7F65-12B00858E430}"/>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Problem Statement</a:t>
            </a:r>
            <a:endParaRPr lang="en-IN" dirty="0">
              <a:solidFill>
                <a:srgbClr val="FFFF00"/>
              </a:solidFill>
              <a:highlight>
                <a:srgbClr val="800080"/>
              </a:highlight>
            </a:endParaRPr>
          </a:p>
        </p:txBody>
      </p:sp>
      <p:sp>
        <p:nvSpPr>
          <p:cNvPr id="3" name="Content Placeholder 2">
            <a:extLst>
              <a:ext uri="{FF2B5EF4-FFF2-40B4-BE49-F238E27FC236}">
                <a16:creationId xmlns:a16="http://schemas.microsoft.com/office/drawing/2014/main" id="{CACDF237-C85A-8154-11D0-AA3D5D057240}"/>
              </a:ext>
            </a:extLst>
          </p:cNvPr>
          <p:cNvSpPr>
            <a:spLocks noGrp="1"/>
          </p:cNvSpPr>
          <p:nvPr>
            <p:ph idx="1"/>
          </p:nvPr>
        </p:nvSpPr>
        <p:spPr>
          <a:xfrm>
            <a:off x="646112" y="1418253"/>
            <a:ext cx="10037440" cy="5187819"/>
          </a:xfrm>
        </p:spPr>
        <p:txBody>
          <a:bodyPr>
            <a:normAutofit lnSpcReduction="10000"/>
          </a:bodyPr>
          <a:lstStyle/>
          <a:p>
            <a:pPr algn="just"/>
            <a:r>
              <a:rPr lang="en-US" dirty="0">
                <a:solidFill>
                  <a:srgbClr val="FFFF00"/>
                </a:solidFill>
              </a:rPr>
              <a:t>Houses are one of the necessary need of each and every person around the globe and therefore housing and real estate market is one of the markets which is one of the major contributors in the world’s economy. It is a very large market and there are various companies working in the domain. Data science comes as a very important tool to solve problems in the domain to help the companies increase their overall revenue, profits, improving their marketing strategies and focusing on changing trends in house sales and purchases. Predictive modelling, Market mix modelling, recommendation systems are some of the machine learning techniques used for achieving the business goals for housing companies. Our problem is related to one such housing company. A US-based housing company named Surprise Housing has decided to enter the Australian market. The company uses data analytics to purchase houses at a price below their actual values and flip them at a higher price. For the same purpose, the company has collected a data set from the sale of houses in Australia. The company is looking at prospective properties to buy houses to enter the market. I have to build a model using Machine Learning in order to predict the actual value of the prospective properties</a:t>
            </a:r>
            <a:endParaRPr lang="en-IN" dirty="0">
              <a:solidFill>
                <a:srgbClr val="FFFF00"/>
              </a:solidFill>
            </a:endParaRPr>
          </a:p>
        </p:txBody>
      </p:sp>
    </p:spTree>
    <p:extLst>
      <p:ext uri="{BB962C8B-B14F-4D97-AF65-F5344CB8AC3E}">
        <p14:creationId xmlns:p14="http://schemas.microsoft.com/office/powerpoint/2010/main" val="102700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ED24-C93B-E011-B924-53EE9E08AA32}"/>
              </a:ext>
            </a:extLst>
          </p:cNvPr>
          <p:cNvSpPr>
            <a:spLocks noGrp="1"/>
          </p:cNvSpPr>
          <p:nvPr>
            <p:ph type="title"/>
          </p:nvPr>
        </p:nvSpPr>
        <p:spPr/>
        <p:txBody>
          <a:bodyPr/>
          <a:lstStyle/>
          <a:p>
            <a:pPr algn="ctr"/>
            <a:r>
              <a:rPr lang="en-IN" sz="4400" dirty="0">
                <a:solidFill>
                  <a:srgbClr val="FFFF00"/>
                </a:solidFill>
                <a:effectLst/>
                <a:highlight>
                  <a:srgbClr val="800080"/>
                </a:highlight>
                <a:latin typeface="Algerian" panose="04020705040A02060702" pitchFamily="82" charset="0"/>
                <a:ea typeface="Calibri" panose="020F0502020204030204" pitchFamily="34" charset="0"/>
                <a:cs typeface="Times New Roman" panose="02020603050405020304" pitchFamily="18" charset="0"/>
              </a:rPr>
              <a:t>Conceptual Background of the Domain Problem</a:t>
            </a:r>
            <a:br>
              <a:rPr lang="en-IN" sz="4400" dirty="0">
                <a:effectLst/>
                <a:latin typeface="Algerian" panose="04020705040A02060702" pitchFamily="82"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D55C302-07D3-0CCE-A0FF-C1D3A52E01AF}"/>
              </a:ext>
            </a:extLst>
          </p:cNvPr>
          <p:cNvSpPr>
            <a:spLocks noGrp="1"/>
          </p:cNvSpPr>
          <p:nvPr>
            <p:ph idx="1"/>
          </p:nvPr>
        </p:nvSpPr>
        <p:spPr/>
        <p:txBody>
          <a:bodyPr>
            <a:normAutofit/>
          </a:bodyPr>
          <a:lstStyle/>
          <a:p>
            <a:pPr algn="just"/>
            <a:r>
              <a:rPr lang="en-US" sz="2400" dirty="0">
                <a:solidFill>
                  <a:srgbClr val="FFFF00"/>
                </a:solidFill>
              </a:rPr>
              <a:t>we are going to work on a dataset which consists information about the location of the house, price and other aspects such as square feet etc. When we work on these sorts of data, we need to see which column is important for us and which is not. Our main aim today is to make a model which can give us a good prediction on the price of the house based on other variables. We are going to use Linear Regression for this dataset and see if it gives us a good accuracy or not.</a:t>
            </a:r>
            <a:endParaRPr lang="en-IN" sz="2400" dirty="0">
              <a:solidFill>
                <a:srgbClr val="FFFF00"/>
              </a:solidFill>
            </a:endParaRPr>
          </a:p>
        </p:txBody>
      </p:sp>
    </p:spTree>
    <p:extLst>
      <p:ext uri="{BB962C8B-B14F-4D97-AF65-F5344CB8AC3E}">
        <p14:creationId xmlns:p14="http://schemas.microsoft.com/office/powerpoint/2010/main" val="1468515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0A4BF-6E29-0D38-3854-F30B4EF199C0}"/>
              </a:ext>
            </a:extLst>
          </p:cNvPr>
          <p:cNvSpPr>
            <a:spLocks noGrp="1"/>
          </p:cNvSpPr>
          <p:nvPr>
            <p:ph type="title"/>
          </p:nvPr>
        </p:nvSpPr>
        <p:spPr/>
        <p:txBody>
          <a:bodyPr/>
          <a:lstStyle/>
          <a:p>
            <a:pPr algn="ctr"/>
            <a:r>
              <a:rPr lang="en-US" sz="4400" dirty="0">
                <a:solidFill>
                  <a:srgbClr val="FFFF00"/>
                </a:solidFill>
                <a:highlight>
                  <a:srgbClr val="800080"/>
                </a:highlight>
                <a:latin typeface="Algerian" panose="04020705040A02060702" pitchFamily="82" charset="0"/>
              </a:rPr>
              <a:t>Data Sources and their formats</a:t>
            </a:r>
            <a:br>
              <a:rPr lang="en-US"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7ACAE385-7F4D-08FF-2982-16A886EED75C}"/>
              </a:ext>
            </a:extLst>
          </p:cNvPr>
          <p:cNvSpPr>
            <a:spLocks noGrp="1"/>
          </p:cNvSpPr>
          <p:nvPr>
            <p:ph idx="1"/>
          </p:nvPr>
        </p:nvSpPr>
        <p:spPr>
          <a:xfrm>
            <a:off x="1103312" y="2052918"/>
            <a:ext cx="9729529" cy="4450519"/>
          </a:xfrm>
        </p:spPr>
        <p:txBody>
          <a:bodyPr>
            <a:normAutofit/>
          </a:bodyPr>
          <a:lstStyle/>
          <a:p>
            <a:r>
              <a:rPr lang="en-US" dirty="0">
                <a:solidFill>
                  <a:srgbClr val="FFFF00"/>
                </a:solidFill>
              </a:rPr>
              <a:t>I have imported the dataset which was in the csv file using pandas. The dataset contains 1168 rows and 81 columns having both numerical and categorical data. Here I can make use of PCA to reduce the columns, but this will give huge data loss. To avoid this, I am keeping the dataset as it is.</a:t>
            </a:r>
          </a:p>
          <a:p>
            <a:r>
              <a:rPr lang="en-US" dirty="0">
                <a:solidFill>
                  <a:srgbClr val="FFFF00"/>
                </a:solidFill>
              </a:rPr>
              <a:t>In this dataset " </a:t>
            </a:r>
            <a:r>
              <a:rPr lang="en-US" dirty="0" err="1">
                <a:solidFill>
                  <a:srgbClr val="FFFF00"/>
                </a:solidFill>
              </a:rPr>
              <a:t>SalePrice</a:t>
            </a:r>
            <a:r>
              <a:rPr lang="en-US" dirty="0">
                <a:solidFill>
                  <a:srgbClr val="FFFF00"/>
                </a:solidFill>
              </a:rPr>
              <a:t>" is our target variable which has float values. So this is a "Regression type" problem.</a:t>
            </a:r>
          </a:p>
          <a:p>
            <a:r>
              <a:rPr lang="en-US" dirty="0">
                <a:solidFill>
                  <a:srgbClr val="FFFF00"/>
                </a:solidFill>
              </a:rPr>
              <a:t>you can download the dataset from the below link.</a:t>
            </a:r>
          </a:p>
          <a:p>
            <a:r>
              <a:rPr lang="en-US" dirty="0">
                <a:solidFill>
                  <a:srgbClr val="FFFF00"/>
                </a:solidFill>
              </a:rPr>
              <a:t>Dataset link: </a:t>
            </a:r>
          </a:p>
          <a:p>
            <a:r>
              <a:rPr lang="en-US" dirty="0">
                <a:solidFill>
                  <a:srgbClr val="FFFF00"/>
                </a:solidFill>
              </a:rPr>
              <a:t>https://github.com/KBkoushik/Housing-Project/blob/40e17dec4167b9b02d89187abadc1d0748c860d0/house%20price%20prediction%20train%20data.csv</a:t>
            </a:r>
          </a:p>
          <a:p>
            <a:endParaRPr lang="en-IN" dirty="0"/>
          </a:p>
        </p:txBody>
      </p:sp>
    </p:spTree>
    <p:extLst>
      <p:ext uri="{BB962C8B-B14F-4D97-AF65-F5344CB8AC3E}">
        <p14:creationId xmlns:p14="http://schemas.microsoft.com/office/powerpoint/2010/main" val="131799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8E6C-1120-BEB7-B800-1BA5E2544285}"/>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About The </a:t>
            </a:r>
            <a:r>
              <a:rPr lang="en-IN" sz="4400" dirty="0" err="1">
                <a:solidFill>
                  <a:srgbClr val="FFFF00"/>
                </a:solidFill>
                <a:highlight>
                  <a:srgbClr val="800080"/>
                </a:highlight>
                <a:latin typeface="Algerian" panose="04020705040A02060702" pitchFamily="82" charset="0"/>
              </a:rPr>
              <a:t>DataSet</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6B753D86-3755-0A07-E0A1-486399EF19D2}"/>
              </a:ext>
            </a:extLst>
          </p:cNvPr>
          <p:cNvSpPr>
            <a:spLocks noGrp="1"/>
          </p:cNvSpPr>
          <p:nvPr>
            <p:ph idx="1"/>
          </p:nvPr>
        </p:nvSpPr>
        <p:spPr/>
        <p:txBody>
          <a:bodyPr/>
          <a:lstStyle/>
          <a:p>
            <a:r>
              <a:rPr lang="en-US" dirty="0">
                <a:solidFill>
                  <a:srgbClr val="FFFF00"/>
                </a:solidFill>
              </a:rPr>
              <a:t>Please visit the link to know more about dataset</a:t>
            </a:r>
          </a:p>
          <a:p>
            <a:pPr marL="400050" lvl="1" indent="0">
              <a:buNone/>
            </a:pPr>
            <a:r>
              <a:rPr lang="en-US" dirty="0">
                <a:solidFill>
                  <a:srgbClr val="FFFF00"/>
                </a:solidFill>
              </a:rPr>
              <a:t>https://github.com/KBkoushik/Housing-Project/blob/053de3656f009dc77ac60679cad247ee9553939b/Data%20Description%20Of%20Housing%20Project.txt</a:t>
            </a:r>
          </a:p>
          <a:p>
            <a:endParaRPr lang="en-IN" dirty="0"/>
          </a:p>
        </p:txBody>
      </p:sp>
    </p:spTree>
    <p:extLst>
      <p:ext uri="{BB962C8B-B14F-4D97-AF65-F5344CB8AC3E}">
        <p14:creationId xmlns:p14="http://schemas.microsoft.com/office/powerpoint/2010/main" val="422928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71F6-18B4-7764-CF47-C472A3AF33BA}"/>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Data </a:t>
            </a:r>
            <a:r>
              <a:rPr lang="en-IN" sz="4400" dirty="0" err="1">
                <a:solidFill>
                  <a:srgbClr val="FFFF00"/>
                </a:solidFill>
                <a:highlight>
                  <a:srgbClr val="800080"/>
                </a:highlight>
                <a:latin typeface="Algerian" panose="04020705040A02060702" pitchFamily="82" charset="0"/>
              </a:rPr>
              <a:t>Preprocessing</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54C2CF2A-EE21-AEAD-E10A-29F0F7691EE3}"/>
              </a:ext>
            </a:extLst>
          </p:cNvPr>
          <p:cNvSpPr>
            <a:spLocks noGrp="1"/>
          </p:cNvSpPr>
          <p:nvPr>
            <p:ph idx="1"/>
          </p:nvPr>
        </p:nvSpPr>
        <p:spPr>
          <a:xfrm>
            <a:off x="1103311" y="1147665"/>
            <a:ext cx="11017153" cy="5635689"/>
          </a:xfrm>
        </p:spPr>
        <p:txBody>
          <a:bodyPr>
            <a:normAutofit fontScale="92500" lnSpcReduction="20000"/>
          </a:bodyPr>
          <a:lstStyle/>
          <a:p>
            <a:pPr marL="0" indent="0">
              <a:buNone/>
            </a:pPr>
            <a:r>
              <a:rPr lang="en-US" dirty="0">
                <a:solidFill>
                  <a:srgbClr val="FFFF00"/>
                </a:solidFill>
              </a:rPr>
              <a:t>For the purpose of the project the dataset has been preprocessed as follows:</a:t>
            </a:r>
          </a:p>
          <a:p>
            <a:r>
              <a:rPr lang="en-US" dirty="0">
                <a:solidFill>
                  <a:srgbClr val="FFFF00"/>
                </a:solidFill>
              </a:rPr>
              <a:t>•	we can see 50% or more data are missing in some columns .so we dropped this 			column to get a better analysis of the data.</a:t>
            </a:r>
          </a:p>
          <a:p>
            <a:r>
              <a:rPr lang="en-US" dirty="0">
                <a:solidFill>
                  <a:srgbClr val="FFFF00"/>
                </a:solidFill>
              </a:rPr>
              <a:t>•	we divide all the columns into categorical and numerical types</a:t>
            </a:r>
          </a:p>
          <a:p>
            <a:r>
              <a:rPr lang="en-US" dirty="0">
                <a:solidFill>
                  <a:srgbClr val="FFFF00"/>
                </a:solidFill>
              </a:rPr>
              <a:t>•	Univariate Analysis Of Categorical Columns and numerical columns.</a:t>
            </a:r>
          </a:p>
          <a:p>
            <a:r>
              <a:rPr lang="en-US" dirty="0">
                <a:solidFill>
                  <a:srgbClr val="FFFF00"/>
                </a:solidFill>
              </a:rPr>
              <a:t>•	Drop ID column</a:t>
            </a:r>
          </a:p>
          <a:p>
            <a:r>
              <a:rPr lang="en-US" dirty="0">
                <a:solidFill>
                  <a:srgbClr val="FFFF00"/>
                </a:solidFill>
              </a:rPr>
              <a:t>•	Drop the utility column to save one type of value.</a:t>
            </a:r>
          </a:p>
          <a:p>
            <a:r>
              <a:rPr lang="en-US" dirty="0">
                <a:solidFill>
                  <a:srgbClr val="FFFF00"/>
                </a:solidFill>
              </a:rPr>
              <a:t>•	Checking correlation with target column using Heatmap</a:t>
            </a:r>
          </a:p>
          <a:p>
            <a:r>
              <a:rPr lang="en-US" dirty="0">
                <a:solidFill>
                  <a:srgbClr val="FFFF00"/>
                </a:solidFill>
              </a:rPr>
              <a:t>•	Checking skewness of each columns</a:t>
            </a:r>
          </a:p>
          <a:p>
            <a:r>
              <a:rPr lang="en-US" dirty="0">
                <a:solidFill>
                  <a:srgbClr val="FFFF00"/>
                </a:solidFill>
              </a:rPr>
              <a:t>•	Handling missing value</a:t>
            </a:r>
          </a:p>
          <a:p>
            <a:r>
              <a:rPr lang="en-US" dirty="0">
                <a:solidFill>
                  <a:srgbClr val="FFFF00"/>
                </a:solidFill>
              </a:rPr>
              <a:t>•	Checking Outliers and removing outliers by </a:t>
            </a:r>
            <a:r>
              <a:rPr lang="en-US" dirty="0" err="1">
                <a:solidFill>
                  <a:srgbClr val="FFFF00"/>
                </a:solidFill>
              </a:rPr>
              <a:t>zscore</a:t>
            </a:r>
            <a:endParaRPr lang="en-US" dirty="0">
              <a:solidFill>
                <a:srgbClr val="FFFF00"/>
              </a:solidFill>
            </a:endParaRPr>
          </a:p>
          <a:p>
            <a:r>
              <a:rPr lang="en-US" dirty="0">
                <a:solidFill>
                  <a:srgbClr val="FFFF00"/>
                </a:solidFill>
              </a:rPr>
              <a:t>•	Encoding the categorical column by Label Encoder</a:t>
            </a:r>
          </a:p>
          <a:p>
            <a:r>
              <a:rPr lang="en-US" dirty="0">
                <a:solidFill>
                  <a:srgbClr val="FFFF00"/>
                </a:solidFill>
              </a:rPr>
              <a:t>•	Dividing data into features and vectors</a:t>
            </a:r>
          </a:p>
          <a:p>
            <a:r>
              <a:rPr lang="en-US" dirty="0">
                <a:solidFill>
                  <a:srgbClr val="FFFF00"/>
                </a:solidFill>
              </a:rPr>
              <a:t>•	Checking VIF score</a:t>
            </a:r>
          </a:p>
          <a:p>
            <a:r>
              <a:rPr lang="en-US" dirty="0">
                <a:solidFill>
                  <a:srgbClr val="FFFF00"/>
                </a:solidFill>
              </a:rPr>
              <a:t>•	Removing skewness by power transform method</a:t>
            </a:r>
          </a:p>
          <a:p>
            <a:r>
              <a:rPr lang="en-US" dirty="0">
                <a:solidFill>
                  <a:srgbClr val="FFFF00"/>
                </a:solidFill>
              </a:rPr>
              <a:t>•	Standardizing the data by standard scaler</a:t>
            </a:r>
          </a:p>
          <a:p>
            <a:endParaRPr lang="en-IN" dirty="0"/>
          </a:p>
        </p:txBody>
      </p:sp>
    </p:spTree>
    <p:extLst>
      <p:ext uri="{BB962C8B-B14F-4D97-AF65-F5344CB8AC3E}">
        <p14:creationId xmlns:p14="http://schemas.microsoft.com/office/powerpoint/2010/main" val="252845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D5F8-A07D-540A-F00D-6921D2B120BA}"/>
              </a:ext>
            </a:extLst>
          </p:cNvPr>
          <p:cNvSpPr>
            <a:spLocks noGrp="1"/>
          </p:cNvSpPr>
          <p:nvPr>
            <p:ph type="title"/>
          </p:nvPr>
        </p:nvSpPr>
        <p:spPr/>
        <p:txBody>
          <a:bodyPr/>
          <a:lstStyle/>
          <a:p>
            <a:pPr algn="ctr"/>
            <a:r>
              <a:rPr lang="en-US" sz="4400" dirty="0">
                <a:solidFill>
                  <a:srgbClr val="FFFF00"/>
                </a:solidFill>
                <a:highlight>
                  <a:srgbClr val="800080"/>
                </a:highlight>
                <a:latin typeface="Algerian" panose="04020705040A02060702" pitchFamily="82" charset="0"/>
              </a:rPr>
              <a:t>Hardware and Software Requirements and Tools Used</a:t>
            </a:r>
            <a:br>
              <a:rPr lang="en-US"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C4D56F61-9AB7-9167-77E1-46EEEF4C44DA}"/>
              </a:ext>
            </a:extLst>
          </p:cNvPr>
          <p:cNvSpPr>
            <a:spLocks noGrp="1"/>
          </p:cNvSpPr>
          <p:nvPr>
            <p:ph idx="1"/>
          </p:nvPr>
        </p:nvSpPr>
        <p:spPr>
          <a:xfrm>
            <a:off x="0" y="2052918"/>
            <a:ext cx="12120465" cy="4805082"/>
          </a:xfrm>
        </p:spPr>
        <p:txBody>
          <a:bodyPr>
            <a:normAutofit/>
          </a:bodyPr>
          <a:lstStyle/>
          <a:p>
            <a:pPr algn="just">
              <a:lnSpc>
                <a:spcPct val="200000"/>
              </a:lnSpc>
            </a:pPr>
            <a:r>
              <a:rPr lang="en-IN" sz="3600" dirty="0">
                <a:solidFill>
                  <a:srgbClr val="FFFF00"/>
                </a:solidFill>
              </a:rPr>
              <a:t>Hardware:- Desktop/Laptop</a:t>
            </a:r>
          </a:p>
          <a:p>
            <a:pPr algn="just">
              <a:lnSpc>
                <a:spcPct val="200000"/>
              </a:lnSpc>
            </a:pPr>
            <a:r>
              <a:rPr lang="en-IN" sz="3600" dirty="0">
                <a:solidFill>
                  <a:srgbClr val="FFFF00"/>
                </a:solidFill>
              </a:rPr>
              <a:t>Software:- Anaconda</a:t>
            </a:r>
          </a:p>
          <a:p>
            <a:pPr marL="0" indent="0">
              <a:buNone/>
            </a:pPr>
            <a:r>
              <a:rPr lang="en-IN" dirty="0"/>
              <a:t> </a:t>
            </a:r>
          </a:p>
          <a:p>
            <a:endParaRPr lang="en-IN" dirty="0"/>
          </a:p>
        </p:txBody>
      </p:sp>
    </p:spTree>
    <p:extLst>
      <p:ext uri="{BB962C8B-B14F-4D97-AF65-F5344CB8AC3E}">
        <p14:creationId xmlns:p14="http://schemas.microsoft.com/office/powerpoint/2010/main" val="1364099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D3A7-690B-427E-5006-357F27BCFE81}"/>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selected models</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4D4E8E59-902B-6F94-246C-32BEC65ABDC7}"/>
              </a:ext>
            </a:extLst>
          </p:cNvPr>
          <p:cNvSpPr>
            <a:spLocks noGrp="1"/>
          </p:cNvSpPr>
          <p:nvPr>
            <p:ph idx="1"/>
          </p:nvPr>
        </p:nvSpPr>
        <p:spPr>
          <a:xfrm>
            <a:off x="1103312" y="2052918"/>
            <a:ext cx="9869488" cy="4195481"/>
          </a:xfrm>
        </p:spPr>
        <p:txBody>
          <a:bodyPr/>
          <a:lstStyle/>
          <a:p>
            <a:r>
              <a:rPr lang="en-US" dirty="0"/>
              <a:t>I used 13 different regression algorithms to get the ideal one for prediction.</a:t>
            </a:r>
          </a:p>
          <a:p>
            <a:endParaRPr lang="en-IN" dirty="0"/>
          </a:p>
        </p:txBody>
      </p:sp>
      <p:pic>
        <p:nvPicPr>
          <p:cNvPr id="4" name="Picture 3">
            <a:extLst>
              <a:ext uri="{FF2B5EF4-FFF2-40B4-BE49-F238E27FC236}">
                <a16:creationId xmlns:a16="http://schemas.microsoft.com/office/drawing/2014/main" id="{2B1BDC7C-1F42-BA05-495E-71EE592B3F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612" y="2448558"/>
            <a:ext cx="9194608" cy="3956724"/>
          </a:xfrm>
          <a:prstGeom prst="rect">
            <a:avLst/>
          </a:prstGeom>
        </p:spPr>
      </p:pic>
    </p:spTree>
    <p:extLst>
      <p:ext uri="{BB962C8B-B14F-4D97-AF65-F5344CB8AC3E}">
        <p14:creationId xmlns:p14="http://schemas.microsoft.com/office/powerpoint/2010/main" val="765974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84B3B-44E0-A142-2569-62289A1EC89B}"/>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Accuracy score of the model</a:t>
            </a:r>
            <a:br>
              <a:rPr lang="en-IN" sz="4400" dirty="0">
                <a:latin typeface="Algerian" panose="04020705040A02060702" pitchFamily="82" charset="0"/>
              </a:rPr>
            </a:br>
            <a:endParaRPr lang="en-IN" dirty="0"/>
          </a:p>
        </p:txBody>
      </p:sp>
      <p:graphicFrame>
        <p:nvGraphicFramePr>
          <p:cNvPr id="5" name="Table 5">
            <a:extLst>
              <a:ext uri="{FF2B5EF4-FFF2-40B4-BE49-F238E27FC236}">
                <a16:creationId xmlns:a16="http://schemas.microsoft.com/office/drawing/2014/main" id="{72AC551C-2B88-33F5-EB05-842CB059A486}"/>
              </a:ext>
            </a:extLst>
          </p:cNvPr>
          <p:cNvGraphicFramePr>
            <a:graphicFrameLocks noGrp="1"/>
          </p:cNvGraphicFramePr>
          <p:nvPr>
            <p:ph idx="1"/>
            <p:extLst>
              <p:ext uri="{D42A27DB-BD31-4B8C-83A1-F6EECF244321}">
                <p14:modId xmlns:p14="http://schemas.microsoft.com/office/powerpoint/2010/main" val="3483965948"/>
              </p:ext>
            </p:extLst>
          </p:nvPr>
        </p:nvGraphicFramePr>
        <p:xfrm>
          <a:off x="1119673" y="1268867"/>
          <a:ext cx="5561045" cy="3163176"/>
        </p:xfrm>
        <a:graphic>
          <a:graphicData uri="http://schemas.openxmlformats.org/drawingml/2006/table">
            <a:tbl>
              <a:tblPr firstRow="1" bandRow="1">
                <a:tableStyleId>{D7AC3CCA-C797-4891-BE02-D94E43425B78}</a:tableStyleId>
              </a:tblPr>
              <a:tblGrid>
                <a:gridCol w="2892490">
                  <a:extLst>
                    <a:ext uri="{9D8B030D-6E8A-4147-A177-3AD203B41FA5}">
                      <a16:colId xmlns:a16="http://schemas.microsoft.com/office/drawing/2014/main" val="3487748573"/>
                    </a:ext>
                  </a:extLst>
                </a:gridCol>
                <a:gridCol w="2668555">
                  <a:extLst>
                    <a:ext uri="{9D8B030D-6E8A-4147-A177-3AD203B41FA5}">
                      <a16:colId xmlns:a16="http://schemas.microsoft.com/office/drawing/2014/main" val="146001478"/>
                    </a:ext>
                  </a:extLst>
                </a:gridCol>
              </a:tblGrid>
              <a:tr h="395397">
                <a:tc>
                  <a:txBody>
                    <a:bodyPr/>
                    <a:lstStyle/>
                    <a:p>
                      <a:pPr algn="ctr"/>
                      <a:r>
                        <a:rPr lang="en-IN" dirty="0"/>
                        <a:t>Model Name</a:t>
                      </a:r>
                    </a:p>
                  </a:txBody>
                  <a:tcPr/>
                </a:tc>
                <a:tc>
                  <a:txBody>
                    <a:bodyPr/>
                    <a:lstStyle/>
                    <a:p>
                      <a:pPr algn="ctr"/>
                      <a:r>
                        <a:rPr lang="en-IN" dirty="0"/>
                        <a:t>Accuracy Score</a:t>
                      </a:r>
                    </a:p>
                  </a:txBody>
                  <a:tcPr/>
                </a:tc>
                <a:extLst>
                  <a:ext uri="{0D108BD9-81ED-4DB2-BD59-A6C34878D82A}">
                    <a16:rowId xmlns:a16="http://schemas.microsoft.com/office/drawing/2014/main" val="2589463234"/>
                  </a:ext>
                </a:extLst>
              </a:tr>
              <a:tr h="395397">
                <a:tc>
                  <a:txBody>
                    <a:bodyPr/>
                    <a:lstStyle/>
                    <a:p>
                      <a:r>
                        <a:rPr lang="en-IN" b="1" dirty="0" err="1">
                          <a:solidFill>
                            <a:schemeClr val="bg1"/>
                          </a:solidFill>
                        </a:rPr>
                        <a:t>LinearRegression</a:t>
                      </a:r>
                      <a:endParaRPr lang="en-IN" b="1" dirty="0">
                        <a:solidFill>
                          <a:schemeClr val="bg1"/>
                        </a:solidFill>
                      </a:endParaRPr>
                    </a:p>
                  </a:txBody>
                  <a:tcPr/>
                </a:tc>
                <a:tc>
                  <a:txBody>
                    <a:bodyPr/>
                    <a:lstStyle/>
                    <a:p>
                      <a:r>
                        <a:rPr lang="en-IN" b="1" i="1" dirty="0"/>
                        <a:t>0.9157549306982217</a:t>
                      </a:r>
                    </a:p>
                  </a:txBody>
                  <a:tcPr/>
                </a:tc>
                <a:extLst>
                  <a:ext uri="{0D108BD9-81ED-4DB2-BD59-A6C34878D82A}">
                    <a16:rowId xmlns:a16="http://schemas.microsoft.com/office/drawing/2014/main" val="3825492719"/>
                  </a:ext>
                </a:extLst>
              </a:tr>
              <a:tr h="395397">
                <a:tc>
                  <a:txBody>
                    <a:bodyPr/>
                    <a:lstStyle/>
                    <a:p>
                      <a:r>
                        <a:rPr lang="en-IN" b="1" dirty="0">
                          <a:solidFill>
                            <a:schemeClr val="bg1"/>
                          </a:solidFill>
                        </a:rPr>
                        <a:t>Ridge</a:t>
                      </a:r>
                    </a:p>
                  </a:txBody>
                  <a:tcPr/>
                </a:tc>
                <a:tc>
                  <a:txBody>
                    <a:bodyPr/>
                    <a:lstStyle/>
                    <a:p>
                      <a:r>
                        <a:rPr lang="en-IN" b="1" i="1" dirty="0"/>
                        <a:t>0.9156381232585454</a:t>
                      </a:r>
                    </a:p>
                  </a:txBody>
                  <a:tcPr/>
                </a:tc>
                <a:extLst>
                  <a:ext uri="{0D108BD9-81ED-4DB2-BD59-A6C34878D82A}">
                    <a16:rowId xmlns:a16="http://schemas.microsoft.com/office/drawing/2014/main" val="636701884"/>
                  </a:ext>
                </a:extLst>
              </a:tr>
              <a:tr h="395397">
                <a:tc>
                  <a:txBody>
                    <a:bodyPr/>
                    <a:lstStyle/>
                    <a:p>
                      <a:r>
                        <a:rPr lang="en-IN" b="1" dirty="0">
                          <a:solidFill>
                            <a:schemeClr val="bg1"/>
                          </a:solidFill>
                        </a:rPr>
                        <a:t>Lasso</a:t>
                      </a:r>
                    </a:p>
                  </a:txBody>
                  <a:tcPr/>
                </a:tc>
                <a:tc>
                  <a:txBody>
                    <a:bodyPr/>
                    <a:lstStyle/>
                    <a:p>
                      <a:r>
                        <a:rPr lang="en-IN" b="1" i="1" dirty="0"/>
                        <a:t>0.9156585091398327</a:t>
                      </a:r>
                    </a:p>
                  </a:txBody>
                  <a:tcPr/>
                </a:tc>
                <a:extLst>
                  <a:ext uri="{0D108BD9-81ED-4DB2-BD59-A6C34878D82A}">
                    <a16:rowId xmlns:a16="http://schemas.microsoft.com/office/drawing/2014/main" val="674378757"/>
                  </a:ext>
                </a:extLst>
              </a:tr>
              <a:tr h="395397">
                <a:tc>
                  <a:txBody>
                    <a:bodyPr/>
                    <a:lstStyle/>
                    <a:p>
                      <a:r>
                        <a:rPr lang="en-IN" b="1" dirty="0" err="1">
                          <a:solidFill>
                            <a:schemeClr val="bg1"/>
                          </a:solidFill>
                        </a:rPr>
                        <a:t>DecisionTreeRegressor</a:t>
                      </a:r>
                      <a:endParaRPr lang="en-IN" b="1" dirty="0">
                        <a:solidFill>
                          <a:schemeClr val="bg1"/>
                        </a:solidFill>
                      </a:endParaRPr>
                    </a:p>
                  </a:txBody>
                  <a:tcPr/>
                </a:tc>
                <a:tc>
                  <a:txBody>
                    <a:bodyPr/>
                    <a:lstStyle/>
                    <a:p>
                      <a:r>
                        <a:rPr lang="en-IN" b="1" i="1" dirty="0"/>
                        <a:t>1.0</a:t>
                      </a:r>
                    </a:p>
                  </a:txBody>
                  <a:tcPr/>
                </a:tc>
                <a:extLst>
                  <a:ext uri="{0D108BD9-81ED-4DB2-BD59-A6C34878D82A}">
                    <a16:rowId xmlns:a16="http://schemas.microsoft.com/office/drawing/2014/main" val="726665741"/>
                  </a:ext>
                </a:extLst>
              </a:tr>
              <a:tr h="395397">
                <a:tc>
                  <a:txBody>
                    <a:bodyPr/>
                    <a:lstStyle/>
                    <a:p>
                      <a:r>
                        <a:rPr lang="en-IN" b="1" dirty="0">
                          <a:solidFill>
                            <a:schemeClr val="bg1"/>
                          </a:solidFill>
                        </a:rPr>
                        <a:t>SVR</a:t>
                      </a:r>
                    </a:p>
                  </a:txBody>
                  <a:tcPr/>
                </a:tc>
                <a:tc>
                  <a:txBody>
                    <a:bodyPr/>
                    <a:lstStyle/>
                    <a:p>
                      <a:r>
                        <a:rPr lang="en-IN" b="1" i="1" dirty="0"/>
                        <a:t>0.04195953923971785</a:t>
                      </a:r>
                    </a:p>
                  </a:txBody>
                  <a:tcPr/>
                </a:tc>
                <a:extLst>
                  <a:ext uri="{0D108BD9-81ED-4DB2-BD59-A6C34878D82A}">
                    <a16:rowId xmlns:a16="http://schemas.microsoft.com/office/drawing/2014/main" val="4236824164"/>
                  </a:ext>
                </a:extLst>
              </a:tr>
              <a:tr h="395397">
                <a:tc>
                  <a:txBody>
                    <a:bodyPr/>
                    <a:lstStyle/>
                    <a:p>
                      <a:r>
                        <a:rPr lang="en-IN" b="1" dirty="0" err="1">
                          <a:solidFill>
                            <a:schemeClr val="bg1"/>
                          </a:solidFill>
                        </a:rPr>
                        <a:t>KNeighborsRegressor</a:t>
                      </a:r>
                      <a:endParaRPr lang="en-IN" b="1" dirty="0">
                        <a:solidFill>
                          <a:schemeClr val="bg1"/>
                        </a:solidFill>
                      </a:endParaRPr>
                    </a:p>
                  </a:txBody>
                  <a:tcPr/>
                </a:tc>
                <a:tc>
                  <a:txBody>
                    <a:bodyPr/>
                    <a:lstStyle/>
                    <a:p>
                      <a:r>
                        <a:rPr lang="en-IN" b="1" i="1" dirty="0"/>
                        <a:t>0.8885605760360096</a:t>
                      </a:r>
                    </a:p>
                  </a:txBody>
                  <a:tcPr/>
                </a:tc>
                <a:extLst>
                  <a:ext uri="{0D108BD9-81ED-4DB2-BD59-A6C34878D82A}">
                    <a16:rowId xmlns:a16="http://schemas.microsoft.com/office/drawing/2014/main" val="2660852666"/>
                  </a:ext>
                </a:extLst>
              </a:tr>
              <a:tr h="395397">
                <a:tc>
                  <a:txBody>
                    <a:bodyPr/>
                    <a:lstStyle/>
                    <a:p>
                      <a:r>
                        <a:rPr lang="en-IN" b="1" dirty="0" err="1">
                          <a:solidFill>
                            <a:schemeClr val="bg1"/>
                          </a:solidFill>
                        </a:rPr>
                        <a:t>RandomForestRegressor</a:t>
                      </a:r>
                      <a:endParaRPr lang="en-IN" b="1" dirty="0">
                        <a:solidFill>
                          <a:schemeClr val="bg1"/>
                        </a:solidFill>
                      </a:endParaRPr>
                    </a:p>
                  </a:txBody>
                  <a:tcPr/>
                </a:tc>
                <a:tc>
                  <a:txBody>
                    <a:bodyPr/>
                    <a:lstStyle/>
                    <a:p>
                      <a:r>
                        <a:rPr lang="en-IN" b="1" i="1" dirty="0"/>
                        <a:t>0.9845258531878339</a:t>
                      </a:r>
                    </a:p>
                  </a:txBody>
                  <a:tcPr/>
                </a:tc>
                <a:extLst>
                  <a:ext uri="{0D108BD9-81ED-4DB2-BD59-A6C34878D82A}">
                    <a16:rowId xmlns:a16="http://schemas.microsoft.com/office/drawing/2014/main" val="3125538758"/>
                  </a:ext>
                </a:extLst>
              </a:tr>
            </a:tbl>
          </a:graphicData>
        </a:graphic>
      </p:graphicFrame>
      <p:graphicFrame>
        <p:nvGraphicFramePr>
          <p:cNvPr id="6" name="Table 6">
            <a:extLst>
              <a:ext uri="{FF2B5EF4-FFF2-40B4-BE49-F238E27FC236}">
                <a16:creationId xmlns:a16="http://schemas.microsoft.com/office/drawing/2014/main" id="{D3533710-9E1A-8D56-5997-6B62F112D3FB}"/>
              </a:ext>
            </a:extLst>
          </p:cNvPr>
          <p:cNvGraphicFramePr>
            <a:graphicFrameLocks noGrp="1"/>
          </p:cNvGraphicFramePr>
          <p:nvPr>
            <p:extLst>
              <p:ext uri="{D42A27DB-BD31-4B8C-83A1-F6EECF244321}">
                <p14:modId xmlns:p14="http://schemas.microsoft.com/office/powerpoint/2010/main" val="2799658545"/>
              </p:ext>
            </p:extLst>
          </p:nvPr>
        </p:nvGraphicFramePr>
        <p:xfrm>
          <a:off x="1119673" y="4432043"/>
          <a:ext cx="5561045" cy="2494280"/>
        </p:xfrm>
        <a:graphic>
          <a:graphicData uri="http://schemas.openxmlformats.org/drawingml/2006/table">
            <a:tbl>
              <a:tblPr firstRow="1" bandRow="1">
                <a:tableStyleId>{D7AC3CCA-C797-4891-BE02-D94E43425B78}</a:tableStyleId>
              </a:tblPr>
              <a:tblGrid>
                <a:gridCol w="2901821">
                  <a:extLst>
                    <a:ext uri="{9D8B030D-6E8A-4147-A177-3AD203B41FA5}">
                      <a16:colId xmlns:a16="http://schemas.microsoft.com/office/drawing/2014/main" val="2586506248"/>
                    </a:ext>
                  </a:extLst>
                </a:gridCol>
                <a:gridCol w="2659224">
                  <a:extLst>
                    <a:ext uri="{9D8B030D-6E8A-4147-A177-3AD203B41FA5}">
                      <a16:colId xmlns:a16="http://schemas.microsoft.com/office/drawing/2014/main" val="2927628954"/>
                    </a:ext>
                  </a:extLst>
                </a:gridCol>
              </a:tblGrid>
              <a:tr h="370840">
                <a:tc>
                  <a:txBody>
                    <a:bodyPr/>
                    <a:lstStyle/>
                    <a:p>
                      <a:r>
                        <a:rPr lang="en-IN" b="1" dirty="0" err="1"/>
                        <a:t>XGBRegressor</a:t>
                      </a:r>
                      <a:endParaRPr lang="en-IN" b="1" dirty="0"/>
                    </a:p>
                  </a:txBody>
                  <a:tcPr/>
                </a:tc>
                <a:tc>
                  <a:txBody>
                    <a:bodyPr/>
                    <a:lstStyle/>
                    <a:p>
                      <a:r>
                        <a:rPr lang="en-IN" b="1" i="1" dirty="0"/>
                        <a:t>0.9999935817822405</a:t>
                      </a:r>
                    </a:p>
                  </a:txBody>
                  <a:tcPr/>
                </a:tc>
                <a:extLst>
                  <a:ext uri="{0D108BD9-81ED-4DB2-BD59-A6C34878D82A}">
                    <a16:rowId xmlns:a16="http://schemas.microsoft.com/office/drawing/2014/main" val="2464777126"/>
                  </a:ext>
                </a:extLst>
              </a:tr>
              <a:tr h="370840">
                <a:tc>
                  <a:txBody>
                    <a:bodyPr/>
                    <a:lstStyle/>
                    <a:p>
                      <a:r>
                        <a:rPr lang="en-IN" b="1" dirty="0" err="1"/>
                        <a:t>ElasticNet</a:t>
                      </a:r>
                      <a:endParaRPr lang="en-IN" b="1" dirty="0"/>
                    </a:p>
                  </a:txBody>
                  <a:tcPr/>
                </a:tc>
                <a:tc>
                  <a:txBody>
                    <a:bodyPr/>
                    <a:lstStyle/>
                    <a:p>
                      <a:r>
                        <a:rPr lang="en-IN" b="1" i="1" dirty="0"/>
                        <a:t>0.8997077125798796</a:t>
                      </a:r>
                    </a:p>
                  </a:txBody>
                  <a:tcPr/>
                </a:tc>
                <a:extLst>
                  <a:ext uri="{0D108BD9-81ED-4DB2-BD59-A6C34878D82A}">
                    <a16:rowId xmlns:a16="http://schemas.microsoft.com/office/drawing/2014/main" val="1460667832"/>
                  </a:ext>
                </a:extLst>
              </a:tr>
              <a:tr h="370840">
                <a:tc>
                  <a:txBody>
                    <a:bodyPr/>
                    <a:lstStyle/>
                    <a:p>
                      <a:r>
                        <a:rPr lang="en-IN" b="1" dirty="0" err="1"/>
                        <a:t>SGDRegressor</a:t>
                      </a:r>
                      <a:endParaRPr lang="en-IN" b="1" dirty="0"/>
                    </a:p>
                  </a:txBody>
                  <a:tcPr/>
                </a:tc>
                <a:tc>
                  <a:txBody>
                    <a:bodyPr/>
                    <a:lstStyle/>
                    <a:p>
                      <a:r>
                        <a:rPr lang="en-IN" b="1" i="1" dirty="0"/>
                        <a:t>0.9140697002146222</a:t>
                      </a:r>
                    </a:p>
                  </a:txBody>
                  <a:tcPr/>
                </a:tc>
                <a:extLst>
                  <a:ext uri="{0D108BD9-81ED-4DB2-BD59-A6C34878D82A}">
                    <a16:rowId xmlns:a16="http://schemas.microsoft.com/office/drawing/2014/main" val="1266429845"/>
                  </a:ext>
                </a:extLst>
              </a:tr>
              <a:tr h="370840">
                <a:tc>
                  <a:txBody>
                    <a:bodyPr/>
                    <a:lstStyle/>
                    <a:p>
                      <a:r>
                        <a:rPr lang="en-IN" b="1" dirty="0" err="1"/>
                        <a:t>BaggingRegressor</a:t>
                      </a:r>
                      <a:endParaRPr lang="en-IN" b="1" dirty="0"/>
                    </a:p>
                  </a:txBody>
                  <a:tcPr/>
                </a:tc>
                <a:tc>
                  <a:txBody>
                    <a:bodyPr/>
                    <a:lstStyle/>
                    <a:p>
                      <a:r>
                        <a:rPr lang="en-IN" b="1" i="1" dirty="0"/>
                        <a:t>0.9783117379249365</a:t>
                      </a:r>
                    </a:p>
                  </a:txBody>
                  <a:tcPr/>
                </a:tc>
                <a:extLst>
                  <a:ext uri="{0D108BD9-81ED-4DB2-BD59-A6C34878D82A}">
                    <a16:rowId xmlns:a16="http://schemas.microsoft.com/office/drawing/2014/main" val="3733127436"/>
                  </a:ext>
                </a:extLst>
              </a:tr>
              <a:tr h="370840">
                <a:tc>
                  <a:txBody>
                    <a:bodyPr/>
                    <a:lstStyle/>
                    <a:p>
                      <a:r>
                        <a:rPr lang="en-IN" b="1" dirty="0" err="1"/>
                        <a:t>AdaBoostRegressor</a:t>
                      </a:r>
                      <a:endParaRPr lang="en-IN" b="1" dirty="0"/>
                    </a:p>
                  </a:txBody>
                  <a:tcPr/>
                </a:tc>
                <a:tc>
                  <a:txBody>
                    <a:bodyPr/>
                    <a:lstStyle/>
                    <a:p>
                      <a:r>
                        <a:rPr lang="en-IN" b="1" i="1" dirty="0"/>
                        <a:t>0.9139360964002511</a:t>
                      </a:r>
                    </a:p>
                  </a:txBody>
                  <a:tcPr/>
                </a:tc>
                <a:extLst>
                  <a:ext uri="{0D108BD9-81ED-4DB2-BD59-A6C34878D82A}">
                    <a16:rowId xmlns:a16="http://schemas.microsoft.com/office/drawing/2014/main" val="2303392778"/>
                  </a:ext>
                </a:extLst>
              </a:tr>
              <a:tr h="370840">
                <a:tc>
                  <a:txBody>
                    <a:bodyPr/>
                    <a:lstStyle/>
                    <a:p>
                      <a:r>
                        <a:rPr lang="en-IN" b="1" dirty="0" err="1"/>
                        <a:t>GradientBoostingRegressor</a:t>
                      </a:r>
                      <a:endParaRPr lang="en-IN" b="1" dirty="0"/>
                    </a:p>
                  </a:txBody>
                  <a:tcPr/>
                </a:tc>
                <a:tc>
                  <a:txBody>
                    <a:bodyPr/>
                    <a:lstStyle/>
                    <a:p>
                      <a:r>
                        <a:rPr lang="en-IN" b="1" i="1" dirty="0"/>
                        <a:t>0.9780245165765798</a:t>
                      </a:r>
                    </a:p>
                  </a:txBody>
                  <a:tcPr/>
                </a:tc>
                <a:extLst>
                  <a:ext uri="{0D108BD9-81ED-4DB2-BD59-A6C34878D82A}">
                    <a16:rowId xmlns:a16="http://schemas.microsoft.com/office/drawing/2014/main" val="4014745713"/>
                  </a:ext>
                </a:extLst>
              </a:tr>
            </a:tbl>
          </a:graphicData>
        </a:graphic>
      </p:graphicFrame>
    </p:spTree>
    <p:extLst>
      <p:ext uri="{BB962C8B-B14F-4D97-AF65-F5344CB8AC3E}">
        <p14:creationId xmlns:p14="http://schemas.microsoft.com/office/powerpoint/2010/main" val="100791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B601-3F0F-13C5-EBFC-20F08D791228}"/>
              </a:ext>
            </a:extLst>
          </p:cNvPr>
          <p:cNvSpPr>
            <a:spLocks noGrp="1"/>
          </p:cNvSpPr>
          <p:nvPr>
            <p:ph type="title"/>
          </p:nvPr>
        </p:nvSpPr>
        <p:spPr/>
        <p:txBody>
          <a:bodyPr/>
          <a:lstStyle/>
          <a:p>
            <a:pPr algn="ctr"/>
            <a:r>
              <a:rPr lang="en-IN" dirty="0">
                <a:solidFill>
                  <a:srgbClr val="FFFF00"/>
                </a:solidFill>
                <a:highlight>
                  <a:srgbClr val="800080"/>
                </a:highlight>
                <a:latin typeface="Algerian" panose="04020705040A02060702" pitchFamily="82" charset="0"/>
              </a:rPr>
              <a:t>Cross Val Score</a:t>
            </a:r>
          </a:p>
        </p:txBody>
      </p:sp>
      <p:sp>
        <p:nvSpPr>
          <p:cNvPr id="3" name="Content Placeholder 2">
            <a:extLst>
              <a:ext uri="{FF2B5EF4-FFF2-40B4-BE49-F238E27FC236}">
                <a16:creationId xmlns:a16="http://schemas.microsoft.com/office/drawing/2014/main" id="{7E6D8283-4F92-7E0F-2A26-054906A4CE3B}"/>
              </a:ext>
            </a:extLst>
          </p:cNvPr>
          <p:cNvSpPr>
            <a:spLocks noGrp="1"/>
          </p:cNvSpPr>
          <p:nvPr>
            <p:ph idx="1"/>
          </p:nvPr>
        </p:nvSpPr>
        <p:spPr>
          <a:xfrm>
            <a:off x="737118" y="2052918"/>
            <a:ext cx="10407846" cy="4195481"/>
          </a:xfrm>
        </p:spPr>
        <p:txBody>
          <a:bodyPr>
            <a:normAutofit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800" dirty="0">
                <a:solidFill>
                  <a:srgbClr val="FFFF00"/>
                </a:solidFill>
              </a:rPr>
              <a:t>After </a:t>
            </a:r>
            <a:r>
              <a:rPr lang="en-IN" sz="2800" dirty="0" err="1">
                <a:solidFill>
                  <a:srgbClr val="FFFF00"/>
                </a:solidFill>
              </a:rPr>
              <a:t>Runing</a:t>
            </a:r>
            <a:r>
              <a:rPr lang="en-IN" sz="2800" dirty="0">
                <a:solidFill>
                  <a:srgbClr val="FFFF00"/>
                </a:solidFill>
              </a:rPr>
              <a:t> this code we get best cross </a:t>
            </a:r>
            <a:r>
              <a:rPr lang="en-IN" sz="2800" dirty="0" err="1">
                <a:solidFill>
                  <a:srgbClr val="FFFF00"/>
                </a:solidFill>
              </a:rPr>
              <a:t>val</a:t>
            </a:r>
            <a:r>
              <a:rPr lang="en-IN" sz="2800" dirty="0">
                <a:solidFill>
                  <a:srgbClr val="FFFF00"/>
                </a:solidFill>
              </a:rPr>
              <a:t> score from </a:t>
            </a:r>
            <a:r>
              <a:rPr lang="en-IN" sz="2800" dirty="0" err="1">
                <a:solidFill>
                  <a:srgbClr val="FFFF00"/>
                </a:solidFill>
              </a:rPr>
              <a:t>GradientBoostingRegressor</a:t>
            </a:r>
            <a:r>
              <a:rPr lang="en-IN" sz="2800" dirty="0">
                <a:solidFill>
                  <a:srgbClr val="FFFF00"/>
                </a:solidFill>
              </a:rPr>
              <a:t> for CV=3</a:t>
            </a:r>
          </a:p>
        </p:txBody>
      </p:sp>
      <p:pic>
        <p:nvPicPr>
          <p:cNvPr id="4" name="Picture 3">
            <a:extLst>
              <a:ext uri="{FF2B5EF4-FFF2-40B4-BE49-F238E27FC236}">
                <a16:creationId xmlns:a16="http://schemas.microsoft.com/office/drawing/2014/main" id="{3584E96D-F854-49AA-20FD-FA319DE14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036" y="1661097"/>
            <a:ext cx="9059091" cy="3535805"/>
          </a:xfrm>
          <a:prstGeom prst="rect">
            <a:avLst/>
          </a:prstGeom>
        </p:spPr>
      </p:pic>
    </p:spTree>
    <p:extLst>
      <p:ext uri="{BB962C8B-B14F-4D97-AF65-F5344CB8AC3E}">
        <p14:creationId xmlns:p14="http://schemas.microsoft.com/office/powerpoint/2010/main" val="3601287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8A97A-D187-20D4-8881-C0C8D36DC0DF}"/>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Parameter tuning</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EC68EFD1-2588-3975-EA97-04D3DB0A21F6}"/>
              </a:ext>
            </a:extLst>
          </p:cNvPr>
          <p:cNvSpPr>
            <a:spLocks noGrp="1"/>
          </p:cNvSpPr>
          <p:nvPr>
            <p:ph idx="1"/>
          </p:nvPr>
        </p:nvSpPr>
        <p:spPr>
          <a:xfrm>
            <a:off x="1104293" y="2080910"/>
            <a:ext cx="9737878" cy="4195481"/>
          </a:xfrm>
        </p:spPr>
        <p:txBody>
          <a:bodyPr>
            <a:normAutofit fontScale="92500"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8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accuracy score has increased after parameter </a:t>
            </a:r>
            <a:r>
              <a:rPr lang="en-IN" sz="2800" spc="-5" dirty="0" err="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tuning.Now</a:t>
            </a:r>
            <a:r>
              <a:rPr lang="en-IN" sz="28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we will create final model with this parameter</a:t>
            </a:r>
            <a:r>
              <a:rPr lang="en-IN" sz="1800" spc="-5" dirty="0">
                <a:solidFill>
                  <a:srgbClr val="7030A0"/>
                </a:solidFill>
                <a:effectLst/>
                <a:latin typeface="Arial"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a:p>
            <a:endParaRPr lang="en-IN" dirty="0"/>
          </a:p>
        </p:txBody>
      </p:sp>
      <p:pic>
        <p:nvPicPr>
          <p:cNvPr id="4" name="Picture 3">
            <a:extLst>
              <a:ext uri="{FF2B5EF4-FFF2-40B4-BE49-F238E27FC236}">
                <a16:creationId xmlns:a16="http://schemas.microsoft.com/office/drawing/2014/main" id="{781F966A-9D9A-53FF-7184-3252BE4BF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0219" y="1194318"/>
            <a:ext cx="8994711" cy="4002522"/>
          </a:xfrm>
          <a:prstGeom prst="rect">
            <a:avLst/>
          </a:prstGeom>
        </p:spPr>
      </p:pic>
    </p:spTree>
    <p:extLst>
      <p:ext uri="{BB962C8B-B14F-4D97-AF65-F5344CB8AC3E}">
        <p14:creationId xmlns:p14="http://schemas.microsoft.com/office/powerpoint/2010/main" val="412265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826E-72C5-E2E9-B730-33CCF26D9A22}"/>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Final model</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B4DF55BF-0449-7C75-BC52-4217204DAC0E}"/>
              </a:ext>
            </a:extLst>
          </p:cNvPr>
          <p:cNvSpPr>
            <a:spLocks noGrp="1"/>
          </p:cNvSpPr>
          <p:nvPr>
            <p:ph idx="1"/>
          </p:nvPr>
        </p:nvSpPr>
        <p:spPr/>
        <p:txBody>
          <a:bodyPr>
            <a:normAutofit fontScale="92500"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800" spc="-5" dirty="0">
                <a:solidFill>
                  <a:srgbClr val="FFFF00"/>
                </a:solidFill>
                <a:effectLst/>
                <a:latin typeface="Georgia" panose="02040502050405020303" pitchFamily="18" charset="0"/>
                <a:ea typeface="Calibri" panose="020F0502020204030204" pitchFamily="34" charset="0"/>
                <a:cs typeface="Times New Roman" panose="02020603050405020304" pitchFamily="18" charset="0"/>
              </a:rPr>
              <a:t>since difference between train accuracy and test accuracy is very less ,our final model is not overfit or underfit</a:t>
            </a:r>
            <a:r>
              <a:rPr lang="en-IN" sz="1800" spc="-5" dirty="0">
                <a:solidFill>
                  <a:srgbClr val="7030A0"/>
                </a:solidFill>
                <a:effectLst/>
                <a:latin typeface="Georgia" panose="02040502050405020303"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CBDF7C74-CA27-5465-4BE1-A2F97921B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12" y="1334278"/>
            <a:ext cx="8313576" cy="3872204"/>
          </a:xfrm>
          <a:prstGeom prst="rect">
            <a:avLst/>
          </a:prstGeom>
        </p:spPr>
      </p:pic>
    </p:spTree>
    <p:extLst>
      <p:ext uri="{BB962C8B-B14F-4D97-AF65-F5344CB8AC3E}">
        <p14:creationId xmlns:p14="http://schemas.microsoft.com/office/powerpoint/2010/main" val="1487965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77AA1-7E52-46B0-DB24-74896930EB30}"/>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Visualizations</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CC23E6B0-936C-6019-7A7F-5ED355ADC419}"/>
              </a:ext>
            </a:extLst>
          </p:cNvPr>
          <p:cNvSpPr>
            <a:spLocks noGrp="1"/>
          </p:cNvSpPr>
          <p:nvPr>
            <p:ph idx="1"/>
          </p:nvPr>
        </p:nvSpPr>
        <p:spPr/>
        <p:txBody>
          <a:bodyPr>
            <a:normAutofit fontScale="925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just"/>
            <a:r>
              <a:rPr lang="en-IN" sz="3000" spc="-5" dirty="0">
                <a:solidFill>
                  <a:srgbClr val="FFFF00"/>
                </a:solidFill>
                <a:effectLst/>
                <a:latin typeface="Georgia" panose="02040502050405020303" pitchFamily="18" charset="0"/>
                <a:ea typeface="Calibri" panose="020F0502020204030204" pitchFamily="34" charset="0"/>
                <a:cs typeface="Times New Roman" panose="02020603050405020304" pitchFamily="18" charset="0"/>
              </a:rPr>
              <a:t>We can see that the original house price and final model’s predicted price are almost same which means model performance is good</a:t>
            </a:r>
            <a:endParaRPr lang="en-IN" sz="3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sz="3000" dirty="0">
              <a:solidFill>
                <a:srgbClr val="FFFF00"/>
              </a:solidFill>
            </a:endParaRPr>
          </a:p>
          <a:p>
            <a:endParaRPr lang="en-IN" dirty="0"/>
          </a:p>
          <a:p>
            <a:endParaRPr lang="en-IN" dirty="0"/>
          </a:p>
          <a:p>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1C69414F-2ABB-A324-B3E0-48E0FE693A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8881" y="1166326"/>
            <a:ext cx="8285583" cy="3704253"/>
          </a:xfrm>
          <a:prstGeom prst="rect">
            <a:avLst/>
          </a:prstGeom>
        </p:spPr>
      </p:pic>
    </p:spTree>
    <p:extLst>
      <p:ext uri="{BB962C8B-B14F-4D97-AF65-F5344CB8AC3E}">
        <p14:creationId xmlns:p14="http://schemas.microsoft.com/office/powerpoint/2010/main" val="1149026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137C-F456-AF72-27E6-CA83423E403D}"/>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Interpretation of the Results</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429D530E-AB02-9E12-37DA-50D29A66E5FB}"/>
              </a:ext>
            </a:extLst>
          </p:cNvPr>
          <p:cNvSpPr>
            <a:spLocks noGrp="1"/>
          </p:cNvSpPr>
          <p:nvPr>
            <p:ph idx="1"/>
          </p:nvPr>
        </p:nvSpPr>
        <p:spPr>
          <a:xfrm>
            <a:off x="646111" y="1698172"/>
            <a:ext cx="9692206" cy="4786604"/>
          </a:xfrm>
        </p:spPr>
        <p:txBody>
          <a:bodyPr/>
          <a:lstStyle/>
          <a:p>
            <a:pPr algn="just"/>
            <a:r>
              <a:rPr lang="en-US" dirty="0">
                <a:solidFill>
                  <a:srgbClr val="FFFF00"/>
                </a:solidFill>
              </a:rPr>
              <a:t>This particular problem needs a good vision on data, and in this problem Feature Engineering is the most crucial thing.</a:t>
            </a:r>
          </a:p>
          <a:p>
            <a:pPr algn="just"/>
            <a:r>
              <a:rPr lang="en-US" dirty="0">
                <a:solidFill>
                  <a:srgbClr val="FFFF00"/>
                </a:solidFill>
              </a:rPr>
              <a:t>You can see how we have handled numerical and categorical data and how we build different machine learning models on the same dataset.</a:t>
            </a:r>
          </a:p>
          <a:p>
            <a:pPr algn="just"/>
            <a:r>
              <a:rPr lang="en-US" dirty="0">
                <a:solidFill>
                  <a:srgbClr val="FFFF00"/>
                </a:solidFill>
              </a:rPr>
              <a:t>It is always advised to all of us that </a:t>
            </a:r>
            <a:r>
              <a:rPr lang="en-US" dirty="0" err="1">
                <a:solidFill>
                  <a:srgbClr val="FFFF00"/>
                </a:solidFill>
              </a:rPr>
              <a:t>atleast</a:t>
            </a:r>
            <a:r>
              <a:rPr lang="en-US" dirty="0">
                <a:solidFill>
                  <a:srgbClr val="FFFF00"/>
                </a:solidFill>
              </a:rPr>
              <a:t> we need to use 5 Algorithm in order to figure out which one is performing best among them and we choose that one and we send that for hyper parameter tuning to know that best parameter .</a:t>
            </a:r>
          </a:p>
          <a:p>
            <a:pPr algn="just"/>
            <a:r>
              <a:rPr lang="en-US" dirty="0">
                <a:solidFill>
                  <a:srgbClr val="FFFF00"/>
                </a:solidFill>
              </a:rPr>
              <a:t>Using hyper parameter tunning we can improve our model accuracy, for instance in this model the accuracy increased.</a:t>
            </a:r>
          </a:p>
          <a:p>
            <a:endParaRPr lang="en-IN" dirty="0"/>
          </a:p>
        </p:txBody>
      </p:sp>
    </p:spTree>
    <p:extLst>
      <p:ext uri="{BB962C8B-B14F-4D97-AF65-F5344CB8AC3E}">
        <p14:creationId xmlns:p14="http://schemas.microsoft.com/office/powerpoint/2010/main" val="879521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A98E-C480-35E9-55C2-68555D707B9B}"/>
              </a:ext>
            </a:extLst>
          </p:cNvPr>
          <p:cNvSpPr>
            <a:spLocks noGrp="1"/>
          </p:cNvSpPr>
          <p:nvPr>
            <p:ph type="title"/>
          </p:nvPr>
        </p:nvSpPr>
        <p:spPr/>
        <p:txBody>
          <a:bodyPr/>
          <a:lstStyle/>
          <a:p>
            <a:pPr algn="ctr"/>
            <a:r>
              <a:rPr lang="en-IN" sz="4800" dirty="0">
                <a:solidFill>
                  <a:srgbClr val="FFFF00"/>
                </a:solidFill>
                <a:effectLst/>
                <a:highlight>
                  <a:srgbClr val="800000"/>
                </a:highlight>
                <a:latin typeface="Algerian" panose="04020705040A02060702" pitchFamily="82" charset="0"/>
                <a:ea typeface="Calibri" panose="020F0502020204030204" pitchFamily="34" charset="0"/>
                <a:cs typeface="Times New Roman" panose="02020603050405020304" pitchFamily="18" charset="0"/>
              </a:rPr>
              <a:t>Future Work</a:t>
            </a:r>
            <a:endParaRPr lang="en-IN" sz="4800" dirty="0">
              <a:solidFill>
                <a:srgbClr val="FFFF00"/>
              </a:solidFill>
              <a:highlight>
                <a:srgbClr val="800000"/>
              </a:highlight>
              <a:latin typeface="Algerian" panose="04020705040A02060702" pitchFamily="82" charset="0"/>
            </a:endParaRPr>
          </a:p>
        </p:txBody>
      </p:sp>
      <p:sp>
        <p:nvSpPr>
          <p:cNvPr id="3" name="Content Placeholder 2">
            <a:extLst>
              <a:ext uri="{FF2B5EF4-FFF2-40B4-BE49-F238E27FC236}">
                <a16:creationId xmlns:a16="http://schemas.microsoft.com/office/drawing/2014/main" id="{85F23168-1588-E016-AE1B-F09049942474}"/>
              </a:ext>
            </a:extLst>
          </p:cNvPr>
          <p:cNvSpPr>
            <a:spLocks noGrp="1"/>
          </p:cNvSpPr>
          <p:nvPr>
            <p:ph idx="1"/>
          </p:nvPr>
        </p:nvSpPr>
        <p:spPr/>
        <p:txBody>
          <a:bodyPr>
            <a:normAutofit lnSpcReduction="10000"/>
          </a:bodyPr>
          <a:lstStyle/>
          <a:p>
            <a:r>
              <a:rPr lang="en-US" sz="2800" dirty="0">
                <a:solidFill>
                  <a:srgbClr val="FFFF00"/>
                </a:solidFill>
              </a:rPr>
              <a:t>For future improvements, following step we thought to took-</a:t>
            </a:r>
          </a:p>
          <a:p>
            <a:endParaRPr lang="en-US" sz="2800" dirty="0">
              <a:solidFill>
                <a:srgbClr val="FFFF00"/>
              </a:solidFill>
            </a:endParaRPr>
          </a:p>
          <a:p>
            <a:pPr lvl="1"/>
            <a:r>
              <a:rPr lang="en-US" sz="2800" dirty="0">
                <a:solidFill>
                  <a:srgbClr val="FFFF00"/>
                </a:solidFill>
              </a:rPr>
              <a:t>Replacing model with a latest/different model</a:t>
            </a:r>
          </a:p>
          <a:p>
            <a:endParaRPr lang="en-US" sz="2800" dirty="0">
              <a:solidFill>
                <a:srgbClr val="FFFF00"/>
              </a:solidFill>
            </a:endParaRPr>
          </a:p>
          <a:p>
            <a:pPr lvl="1"/>
            <a:r>
              <a:rPr lang="en-US" sz="2800" dirty="0">
                <a:solidFill>
                  <a:srgbClr val="FFFF00"/>
                </a:solidFill>
              </a:rPr>
              <a:t>Using other robust datasets  </a:t>
            </a:r>
          </a:p>
          <a:p>
            <a:endParaRPr lang="en-US" sz="2800" dirty="0">
              <a:solidFill>
                <a:srgbClr val="FFFF00"/>
              </a:solidFill>
            </a:endParaRPr>
          </a:p>
          <a:p>
            <a:pPr lvl="1"/>
            <a:r>
              <a:rPr lang="en-US" sz="2800" dirty="0">
                <a:solidFill>
                  <a:srgbClr val="FFFF00"/>
                </a:solidFill>
              </a:rPr>
              <a:t>Predicting result on </a:t>
            </a:r>
            <a:r>
              <a:rPr lang="en-US" sz="2800" dirty="0" err="1">
                <a:solidFill>
                  <a:srgbClr val="FFFF00"/>
                </a:solidFill>
              </a:rPr>
              <a:t>differents</a:t>
            </a:r>
            <a:r>
              <a:rPr lang="en-US" sz="2800" dirty="0">
                <a:solidFill>
                  <a:srgbClr val="FFFF00"/>
                </a:solidFill>
              </a:rPr>
              <a:t> attributes</a:t>
            </a:r>
          </a:p>
          <a:p>
            <a:endParaRPr lang="en-IN" dirty="0"/>
          </a:p>
        </p:txBody>
      </p:sp>
    </p:spTree>
    <p:extLst>
      <p:ext uri="{BB962C8B-B14F-4D97-AF65-F5344CB8AC3E}">
        <p14:creationId xmlns:p14="http://schemas.microsoft.com/office/powerpoint/2010/main" val="525781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6DA82-9E58-9559-DB5C-10F3AE004A6B}"/>
              </a:ext>
            </a:extLst>
          </p:cNvPr>
          <p:cNvSpPr>
            <a:spLocks noGrp="1"/>
          </p:cNvSpPr>
          <p:nvPr>
            <p:ph type="title"/>
          </p:nvPr>
        </p:nvSpPr>
        <p:spPr/>
        <p:txBody>
          <a:bodyPr/>
          <a:lstStyle/>
          <a:p>
            <a:pPr algn="ctr"/>
            <a:r>
              <a:rPr lang="en-IN" sz="4400" dirty="0" err="1">
                <a:solidFill>
                  <a:srgbClr val="FFFF00"/>
                </a:solidFill>
                <a:highlight>
                  <a:srgbClr val="800080"/>
                </a:highlight>
                <a:latin typeface="Algerian" panose="04020705040A02060702" pitchFamily="82" charset="0"/>
              </a:rPr>
              <a:t>Conclussion</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F05E71DD-597B-3AD6-9798-02D02E8E0893}"/>
              </a:ext>
            </a:extLst>
          </p:cNvPr>
          <p:cNvSpPr>
            <a:spLocks noGrp="1"/>
          </p:cNvSpPr>
          <p:nvPr>
            <p:ph idx="1"/>
          </p:nvPr>
        </p:nvSpPr>
        <p:spPr/>
        <p:txBody>
          <a:bodyPr/>
          <a:lstStyle/>
          <a:p>
            <a:r>
              <a:rPr lang="en-US" dirty="0">
                <a:solidFill>
                  <a:srgbClr val="FFFF00"/>
                </a:solidFill>
              </a:rPr>
              <a:t>When predicting house prices, many complications were involved. There are many variables / attributes to consider in determining the price of a house and if all or most of them are used, we need a lot of calculating power to get the price of the house. And it is very difficult to accurately predict home prices in real life.</a:t>
            </a:r>
          </a:p>
          <a:p>
            <a:endParaRPr lang="en-US" dirty="0">
              <a:solidFill>
                <a:srgbClr val="FFFF00"/>
              </a:solidFill>
            </a:endParaRPr>
          </a:p>
          <a:p>
            <a:r>
              <a:rPr lang="en-US" dirty="0">
                <a:solidFill>
                  <a:srgbClr val="FFFF00"/>
                </a:solidFill>
              </a:rPr>
              <a:t>For any of machine learning project my suggestion is first you have to understand the problem on ground level .if you don’t allow yourself to work with diligence .if you don’ t work harder anything that you are doing or will do , not only in case of machine learning but also in life cycle would be futile. Maybe, my </a:t>
            </a:r>
            <a:r>
              <a:rPr lang="en-US" dirty="0" err="1">
                <a:solidFill>
                  <a:srgbClr val="FFFF00"/>
                </a:solidFill>
              </a:rPr>
              <a:t>endeavour</a:t>
            </a:r>
            <a:r>
              <a:rPr lang="en-US" dirty="0">
                <a:solidFill>
                  <a:srgbClr val="FFFF00"/>
                </a:solidFill>
              </a:rPr>
              <a:t> assist you when ever you will get stuck</a:t>
            </a:r>
          </a:p>
          <a:p>
            <a:endParaRPr lang="en-IN" dirty="0"/>
          </a:p>
        </p:txBody>
      </p:sp>
    </p:spTree>
    <p:extLst>
      <p:ext uri="{BB962C8B-B14F-4D97-AF65-F5344CB8AC3E}">
        <p14:creationId xmlns:p14="http://schemas.microsoft.com/office/powerpoint/2010/main" val="3655721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2EE4A-7AFD-584E-45F3-31B34E8CC2E7}"/>
              </a:ext>
            </a:extLst>
          </p:cNvPr>
          <p:cNvSpPr>
            <a:spLocks noGrp="1"/>
          </p:cNvSpPr>
          <p:nvPr>
            <p:ph type="title"/>
          </p:nvPr>
        </p:nvSpPr>
        <p:spPr>
          <a:xfrm>
            <a:off x="1313578" y="1947333"/>
            <a:ext cx="8825657" cy="1915647"/>
          </a:xfrm>
        </p:spPr>
        <p:txBody>
          <a:bodyPr/>
          <a:lstStyle/>
          <a:p>
            <a:pPr algn="ctr"/>
            <a:r>
              <a:rPr lang="en-IN" sz="9600" dirty="0"/>
              <a:t>	</a:t>
            </a:r>
            <a:r>
              <a:rPr lang="en-IN" sz="9600" dirty="0">
                <a:solidFill>
                  <a:srgbClr val="FFFF00"/>
                </a:solidFill>
                <a:highlight>
                  <a:srgbClr val="800080"/>
                </a:highlight>
                <a:latin typeface="Algerian" panose="04020705040A02060702" pitchFamily="82" charset="0"/>
              </a:rPr>
              <a:t>THANK YOU</a:t>
            </a:r>
          </a:p>
        </p:txBody>
      </p:sp>
      <p:sp>
        <p:nvSpPr>
          <p:cNvPr id="3" name="Text Placeholder 2">
            <a:extLst>
              <a:ext uri="{FF2B5EF4-FFF2-40B4-BE49-F238E27FC236}">
                <a16:creationId xmlns:a16="http://schemas.microsoft.com/office/drawing/2014/main" id="{1DCF2583-4033-EE7B-5499-C7E462117A6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522731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326</TotalTime>
  <Words>1331</Words>
  <Application>Microsoft Office PowerPoint</Application>
  <PresentationFormat>Widescreen</PresentationFormat>
  <Paragraphs>151</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Algerian</vt:lpstr>
      <vt:lpstr>Arial</vt:lpstr>
      <vt:lpstr>Arial Black</vt:lpstr>
      <vt:lpstr>Calibri</vt:lpstr>
      <vt:lpstr>Century Gothic</vt:lpstr>
      <vt:lpstr>Georgia</vt:lpstr>
      <vt:lpstr>Segoe UI</vt:lpstr>
      <vt:lpstr>Wingdings</vt:lpstr>
      <vt:lpstr>Wingdings 3</vt:lpstr>
      <vt:lpstr>Ion</vt:lpstr>
      <vt:lpstr>PowerPoint Presentation</vt:lpstr>
      <vt:lpstr>TABLE OF CONTENTS</vt:lpstr>
      <vt:lpstr>Abstruct</vt:lpstr>
      <vt:lpstr>Introduction</vt:lpstr>
      <vt:lpstr>Problem Statement</vt:lpstr>
      <vt:lpstr>Conceptual Background of the Domain Problem </vt:lpstr>
      <vt:lpstr>Data Sources and their formats </vt:lpstr>
      <vt:lpstr>About The DataSet </vt:lpstr>
      <vt:lpstr>Data Preprocessing </vt:lpstr>
      <vt:lpstr>Hardware and Software Requirements and Tools Used </vt:lpstr>
      <vt:lpstr>selected models </vt:lpstr>
      <vt:lpstr>Accuracy score of the model </vt:lpstr>
      <vt:lpstr>Cross Val Score</vt:lpstr>
      <vt:lpstr>Parameter tuning </vt:lpstr>
      <vt:lpstr>Final model </vt:lpstr>
      <vt:lpstr>Visualizations </vt:lpstr>
      <vt:lpstr>Interpretation of the Results </vt:lpstr>
      <vt:lpstr>Future Work</vt:lpstr>
      <vt:lpstr>Conclussion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KOUSHIK BISWAS</dc:creator>
  <cp:lastModifiedBy>KOUSHIK BISWAS</cp:lastModifiedBy>
  <cp:revision>15</cp:revision>
  <dcterms:created xsi:type="dcterms:W3CDTF">2022-06-27T13:52:02Z</dcterms:created>
  <dcterms:modified xsi:type="dcterms:W3CDTF">2022-06-27T19:18:57Z</dcterms:modified>
</cp:coreProperties>
</file>